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Proxima Nova" panose="020B0604020202020204" charset="0"/>
      <p:regular r:id="rId11"/>
      <p:bold r:id="rId12"/>
      <p:italic r:id="rId13"/>
      <p:boldItalic r:id="rId14"/>
    </p:embeddedFont>
    <p:embeddedFont>
      <p:font typeface="Quattrocento Sans" panose="020B0502050000020003" pitchFamily="34" charset="0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E196AC-8EB1-4CB2-8D9B-F9CA5F363218}" v="1" dt="2026-10-07T05:07:20.050"/>
  </p1510:revLst>
</p1510:revInfo>
</file>

<file path=ppt/tableStyles.xml><?xml version="1.0" encoding="utf-8"?>
<a:tblStyleLst xmlns:a="http://schemas.openxmlformats.org/drawingml/2006/main" def="{5D50B04C-EC36-4FFD-9D90-1F05F1B5E898}">
  <a:tblStyle styleId="{5D50B04C-EC36-4FFD-9D90-1F05F1B5E8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7F6F288-1EAE-409C-A182-6EF3CD6EB3C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ruth S. G" userId="4e551896e21cf89e" providerId="LiveId" clId="{3101C34B-5E40-409E-BAE1-E8BD3C0C6724}"/>
    <pc:docChg chg="custSel modSld">
      <pc:chgData name="Sushruth S. G" userId="4e551896e21cf89e" providerId="LiveId" clId="{3101C34B-5E40-409E-BAE1-E8BD3C0C6724}" dt="2026-10-07T05:19:17.204" v="57" actId="1076"/>
      <pc:docMkLst>
        <pc:docMk/>
      </pc:docMkLst>
      <pc:sldChg chg="addSp delSp modSp mod">
        <pc:chgData name="Sushruth S. G" userId="4e551896e21cf89e" providerId="LiveId" clId="{3101C34B-5E40-409E-BAE1-E8BD3C0C6724}" dt="2026-10-07T05:12:44.103" v="48" actId="255"/>
        <pc:sldMkLst>
          <pc:docMk/>
          <pc:sldMk cId="0" sldId="259"/>
        </pc:sldMkLst>
        <pc:spChg chg="add del mod">
          <ac:chgData name="Sushruth S. G" userId="4e551896e21cf89e" providerId="LiveId" clId="{3101C34B-5E40-409E-BAE1-E8BD3C0C6724}" dt="2026-10-07T05:08:28.037" v="19"/>
          <ac:spMkLst>
            <pc:docMk/>
            <pc:sldMk cId="0" sldId="259"/>
            <ac:spMk id="2" creationId="{C063D7C7-5766-61AB-0B8B-4BC85E29630A}"/>
          </ac:spMkLst>
        </pc:spChg>
        <pc:spChg chg="mod">
          <ac:chgData name="Sushruth S. G" userId="4e551896e21cf89e" providerId="LiveId" clId="{3101C34B-5E40-409E-BAE1-E8BD3C0C6724}" dt="2026-10-07T05:11:54.791" v="43" actId="1076"/>
          <ac:spMkLst>
            <pc:docMk/>
            <pc:sldMk cId="0" sldId="259"/>
            <ac:spMk id="152" creationId="{00000000-0000-0000-0000-000000000000}"/>
          </ac:spMkLst>
        </pc:spChg>
        <pc:graphicFrameChg chg="mod modGraphic">
          <ac:chgData name="Sushruth S. G" userId="4e551896e21cf89e" providerId="LiveId" clId="{3101C34B-5E40-409E-BAE1-E8BD3C0C6724}" dt="2026-10-07T05:12:22.316" v="45" actId="255"/>
          <ac:graphicFrameMkLst>
            <pc:docMk/>
            <pc:sldMk cId="0" sldId="259"/>
            <ac:graphicFrameMk id="153" creationId="{00000000-0000-0000-0000-000000000000}"/>
          </ac:graphicFrameMkLst>
        </pc:graphicFrameChg>
        <pc:graphicFrameChg chg="mod modGraphic">
          <ac:chgData name="Sushruth S. G" userId="4e551896e21cf89e" providerId="LiveId" clId="{3101C34B-5E40-409E-BAE1-E8BD3C0C6724}" dt="2026-10-07T05:12:44.103" v="48" actId="255"/>
          <ac:graphicFrameMkLst>
            <pc:docMk/>
            <pc:sldMk cId="0" sldId="259"/>
            <ac:graphicFrameMk id="154" creationId="{00000000-0000-0000-0000-000000000000}"/>
          </ac:graphicFrameMkLst>
        </pc:graphicFrameChg>
      </pc:sldChg>
      <pc:sldChg chg="modSp mod">
        <pc:chgData name="Sushruth S. G" userId="4e551896e21cf89e" providerId="LiveId" clId="{3101C34B-5E40-409E-BAE1-E8BD3C0C6724}" dt="2026-10-07T05:13:10.656" v="51" actId="255"/>
        <pc:sldMkLst>
          <pc:docMk/>
          <pc:sldMk cId="0" sldId="260"/>
        </pc:sldMkLst>
        <pc:spChg chg="mod">
          <ac:chgData name="Sushruth S. G" userId="4e551896e21cf89e" providerId="LiveId" clId="{3101C34B-5E40-409E-BAE1-E8BD3C0C6724}" dt="2026-10-07T05:09:07.742" v="26" actId="1076"/>
          <ac:spMkLst>
            <pc:docMk/>
            <pc:sldMk cId="0" sldId="260"/>
            <ac:spMk id="161" creationId="{00000000-0000-0000-0000-000000000000}"/>
          </ac:spMkLst>
        </pc:spChg>
        <pc:graphicFrameChg chg="mod modGraphic">
          <ac:chgData name="Sushruth S. G" userId="4e551896e21cf89e" providerId="LiveId" clId="{3101C34B-5E40-409E-BAE1-E8BD3C0C6724}" dt="2026-10-07T05:12:57.030" v="49" actId="2711"/>
          <ac:graphicFrameMkLst>
            <pc:docMk/>
            <pc:sldMk cId="0" sldId="260"/>
            <ac:graphicFrameMk id="163" creationId="{00000000-0000-0000-0000-000000000000}"/>
          </ac:graphicFrameMkLst>
        </pc:graphicFrameChg>
        <pc:graphicFrameChg chg="mod modGraphic">
          <ac:chgData name="Sushruth S. G" userId="4e551896e21cf89e" providerId="LiveId" clId="{3101C34B-5E40-409E-BAE1-E8BD3C0C6724}" dt="2026-10-07T05:13:10.656" v="51" actId="255"/>
          <ac:graphicFrameMkLst>
            <pc:docMk/>
            <pc:sldMk cId="0" sldId="260"/>
            <ac:graphicFrameMk id="165" creationId="{00000000-0000-0000-0000-000000000000}"/>
          </ac:graphicFrameMkLst>
        </pc:graphicFrameChg>
        <pc:picChg chg="mod">
          <ac:chgData name="Sushruth S. G" userId="4e551896e21cf89e" providerId="LiveId" clId="{3101C34B-5E40-409E-BAE1-E8BD3C0C6724}" dt="2026-10-07T05:10:08.032" v="32" actId="14100"/>
          <ac:picMkLst>
            <pc:docMk/>
            <pc:sldMk cId="0" sldId="260"/>
            <ac:picMk id="160" creationId="{00000000-0000-0000-0000-000000000000}"/>
          </ac:picMkLst>
        </pc:picChg>
      </pc:sldChg>
      <pc:sldChg chg="addSp delSp modSp mod">
        <pc:chgData name="Sushruth S. G" userId="4e551896e21cf89e" providerId="LiveId" clId="{3101C34B-5E40-409E-BAE1-E8BD3C0C6724}" dt="2026-10-07T05:19:17.204" v="57" actId="1076"/>
        <pc:sldMkLst>
          <pc:docMk/>
          <pc:sldMk cId="0" sldId="261"/>
        </pc:sldMkLst>
        <pc:picChg chg="add mod">
          <ac:chgData name="Sushruth S. G" userId="4e551896e21cf89e" providerId="LiveId" clId="{3101C34B-5E40-409E-BAE1-E8BD3C0C6724}" dt="2026-10-07T05:19:17.204" v="57" actId="1076"/>
          <ac:picMkLst>
            <pc:docMk/>
            <pc:sldMk cId="0" sldId="261"/>
            <ac:picMk id="3" creationId="{DB273CD6-E831-81C0-DC3F-51713AA1F613}"/>
          </ac:picMkLst>
        </pc:picChg>
        <pc:picChg chg="del mod">
          <ac:chgData name="Sushruth S. G" userId="4e551896e21cf89e" providerId="LiveId" clId="{3101C34B-5E40-409E-BAE1-E8BD3C0C6724}" dt="2026-10-07T05:18:53.741" v="52" actId="478"/>
          <ac:picMkLst>
            <pc:docMk/>
            <pc:sldMk cId="0" sldId="261"/>
            <ac:picMk id="17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fa4faa0351_0_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fa4faa0351_0_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a4faa035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a4faa035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a4faa0351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a4faa0351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6f504071c5a4aee_1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6f504071c5a4aee_1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6f504071c5a4ae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6f504071c5a4aee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fa4faa0351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fa4faa0351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a4faa0351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fa4faa0351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l="72690" t="69862"/>
          <a:stretch/>
        </p:blipFill>
        <p:spPr>
          <a:xfrm>
            <a:off x="7271061" y="3592286"/>
            <a:ext cx="1872942" cy="155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633845" y="1035886"/>
            <a:ext cx="78867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46314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7" name="Google Shape;57;p13"/>
          <p:cNvCxnSpPr/>
          <p:nvPr/>
        </p:nvCxnSpPr>
        <p:spPr>
          <a:xfrm>
            <a:off x="633845" y="893949"/>
            <a:ext cx="7886700" cy="0"/>
          </a:xfrm>
          <a:prstGeom prst="straightConnector1">
            <a:avLst/>
          </a:prstGeom>
          <a:noFill/>
          <a:ln w="9525" cap="flat" cmpd="sng">
            <a:solidFill>
              <a:srgbClr val="3DACA7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0470" y="416256"/>
            <a:ext cx="600075" cy="33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(Dark)" type="title">
  <p:cSld name="TITLE">
    <p:bg>
      <p:bgPr>
        <a:solidFill>
          <a:srgbClr val="3EADA7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xfrm>
            <a:off x="311700" y="965800"/>
            <a:ext cx="77058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xfrm>
            <a:off x="311700" y="1838650"/>
            <a:ext cx="647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Proxima Nova"/>
              <a:buNone/>
              <a:defRPr sz="28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7" name="Google Shape;67;p15"/>
          <p:cNvCxnSpPr/>
          <p:nvPr/>
        </p:nvCxnSpPr>
        <p:spPr>
          <a:xfrm>
            <a:off x="395025" y="1831850"/>
            <a:ext cx="7344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8" name="Google Shape;68;p15" descr="style3singlecolormi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5025" y="4094150"/>
            <a:ext cx="4813400" cy="96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descr="strips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8963" y="3524250"/>
            <a:ext cx="2105025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(Light)">
  <p:cSld name="CUSTOM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1041825"/>
            <a:ext cx="8520600" cy="8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72" name="Google Shape;72;p16" descr="style3colormi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00" y="4150625"/>
            <a:ext cx="4828025" cy="9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>
            <a:spLocks noGrp="1"/>
          </p:cNvSpPr>
          <p:nvPr>
            <p:ph type="title" idx="2"/>
          </p:nvPr>
        </p:nvSpPr>
        <p:spPr>
          <a:xfrm>
            <a:off x="311700" y="1841000"/>
            <a:ext cx="8520600" cy="8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cxnSp>
        <p:nvCxnSpPr>
          <p:cNvPr id="74" name="Google Shape;74;p16"/>
          <p:cNvCxnSpPr/>
          <p:nvPr/>
        </p:nvCxnSpPr>
        <p:spPr>
          <a:xfrm>
            <a:off x="380400" y="1799550"/>
            <a:ext cx="7929600" cy="43800"/>
          </a:xfrm>
          <a:prstGeom prst="straightConnector1">
            <a:avLst/>
          </a:prstGeom>
          <a:noFill/>
          <a:ln w="9525" cap="flat" cmpd="sng">
            <a:solidFill>
              <a:srgbClr val="3EADA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5" name="Google Shape;75;p16" descr="strips_col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8963" y="3524250"/>
            <a:ext cx="2105025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20362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Proxima Nova"/>
              <a:buNone/>
              <a:defRPr sz="36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289825" y="16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Proxima Nova"/>
              <a:buNone/>
              <a:defRPr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3" name="Google Shape;83;p18"/>
          <p:cNvCxnSpPr/>
          <p:nvPr/>
        </p:nvCxnSpPr>
        <p:spPr>
          <a:xfrm>
            <a:off x="248725" y="848575"/>
            <a:ext cx="8602800" cy="0"/>
          </a:xfrm>
          <a:prstGeom prst="straightConnector1">
            <a:avLst/>
          </a:prstGeom>
          <a:noFill/>
          <a:ln w="9525" cap="flat" cmpd="sng">
            <a:solidFill>
              <a:srgbClr val="3EADA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None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7" name="Google Shape;87;p19"/>
          <p:cNvCxnSpPr/>
          <p:nvPr/>
        </p:nvCxnSpPr>
        <p:spPr>
          <a:xfrm rot="10800000" flipH="1">
            <a:off x="336500" y="848650"/>
            <a:ext cx="8412600" cy="43800"/>
          </a:xfrm>
          <a:prstGeom prst="straightConnector1">
            <a:avLst/>
          </a:prstGeom>
          <a:noFill/>
          <a:ln w="9525" cap="flat" cmpd="sng">
            <a:solidFill>
              <a:srgbClr val="3EADA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>
            <a:spLocks noGrp="1"/>
          </p:cNvSpPr>
          <p:nvPr>
            <p:ph type="title"/>
          </p:nvPr>
        </p:nvSpPr>
        <p:spPr>
          <a:xfrm>
            <a:off x="311700" y="4032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None/>
              <a:defRPr sz="24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2" name="Google Shape;92;p20"/>
          <p:cNvCxnSpPr/>
          <p:nvPr/>
        </p:nvCxnSpPr>
        <p:spPr>
          <a:xfrm>
            <a:off x="292600" y="1331375"/>
            <a:ext cx="2823600" cy="29100"/>
          </a:xfrm>
          <a:prstGeom prst="straightConnector1">
            <a:avLst/>
          </a:prstGeom>
          <a:noFill/>
          <a:ln w="9525" cap="flat" cmpd="sng">
            <a:solidFill>
              <a:srgbClr val="3EADA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20"/>
          <p:cNvSpPr/>
          <p:nvPr/>
        </p:nvSpPr>
        <p:spPr>
          <a:xfrm>
            <a:off x="3189425" y="0"/>
            <a:ext cx="59547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3EADA7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_POINT_1">
    <p:bg>
      <p:bgPr>
        <a:solidFill>
          <a:srgbClr val="3EADA7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Proxima Nova"/>
              <a:buNone/>
              <a:defRPr sz="4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p22" descr="strips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38963" y="3524250"/>
            <a:ext cx="2105025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Proxima Nova"/>
              <a:buNone/>
              <a:defRPr sz="42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roxima Nova"/>
              <a:buNone/>
              <a:defRPr sz="21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4433000" y="-125"/>
            <a:ext cx="234000" cy="5143500"/>
          </a:xfrm>
          <a:prstGeom prst="rect">
            <a:avLst/>
          </a:prstGeom>
          <a:solidFill>
            <a:srgbClr val="3EAD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8" name="Google Shape;108;p23"/>
          <p:cNvCxnSpPr/>
          <p:nvPr/>
        </p:nvCxnSpPr>
        <p:spPr>
          <a:xfrm rot="10800000" flipH="1">
            <a:off x="1638600" y="2691925"/>
            <a:ext cx="1302000" cy="14700"/>
          </a:xfrm>
          <a:prstGeom prst="straightConnector1">
            <a:avLst/>
          </a:prstGeom>
          <a:noFill/>
          <a:ln w="9525" cap="flat" cmpd="sng">
            <a:solidFill>
              <a:srgbClr val="3EADA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4"/>
          <p:cNvSpPr/>
          <p:nvPr/>
        </p:nvSpPr>
        <p:spPr>
          <a:xfrm>
            <a:off x="-73150" y="5056825"/>
            <a:ext cx="9264000" cy="86400"/>
          </a:xfrm>
          <a:prstGeom prst="rect">
            <a:avLst/>
          </a:prstGeom>
          <a:solidFill>
            <a:srgbClr val="3EADA7"/>
          </a:solidFill>
          <a:ln w="9525" cap="flat" cmpd="sng">
            <a:solidFill>
              <a:srgbClr val="3EAD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_ONLY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/>
          <p:nvPr/>
        </p:nvSpPr>
        <p:spPr>
          <a:xfrm>
            <a:off x="0" y="3891675"/>
            <a:ext cx="9144000" cy="1251900"/>
          </a:xfrm>
          <a:prstGeom prst="rect">
            <a:avLst/>
          </a:prstGeom>
          <a:solidFill>
            <a:srgbClr val="3EAD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None/>
              <a:defRPr>
                <a:solidFill>
                  <a:srgbClr val="F3F3F3"/>
                </a:solidFill>
              </a:defRPr>
            </a:lvl1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6"/>
          <p:cNvSpPr/>
          <p:nvPr/>
        </p:nvSpPr>
        <p:spPr>
          <a:xfrm>
            <a:off x="100" y="0"/>
            <a:ext cx="9144000" cy="87600"/>
          </a:xfrm>
          <a:prstGeom prst="rect">
            <a:avLst/>
          </a:prstGeom>
          <a:solidFill>
            <a:srgbClr val="3EAD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6"/>
          <p:cNvSpPr txBox="1"/>
          <p:nvPr/>
        </p:nvSpPr>
        <p:spPr>
          <a:xfrm>
            <a:off x="1155800" y="1097275"/>
            <a:ext cx="67740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latin typeface="Droid Sans"/>
                <a:ea typeface="Droid Sans"/>
                <a:cs typeface="Droid Sans"/>
                <a:sym typeface="Droid Sans"/>
              </a:rPr>
              <a:t>xx%</a:t>
            </a:r>
            <a:endParaRPr sz="12000" b="1"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05450" y="951000"/>
            <a:ext cx="3711525" cy="2783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27"/>
          <p:cNvCxnSpPr/>
          <p:nvPr/>
        </p:nvCxnSpPr>
        <p:spPr>
          <a:xfrm>
            <a:off x="4676250" y="386475"/>
            <a:ext cx="0" cy="4286700"/>
          </a:xfrm>
          <a:prstGeom prst="straightConnector1">
            <a:avLst/>
          </a:prstGeom>
          <a:noFill/>
          <a:ln w="9525" cap="flat" cmpd="sng">
            <a:solidFill>
              <a:srgbClr val="3EADA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27"/>
          <p:cNvSpPr txBox="1">
            <a:spLocks noGrp="1"/>
          </p:cNvSpPr>
          <p:nvPr>
            <p:ph type="title"/>
          </p:nvPr>
        </p:nvSpPr>
        <p:spPr>
          <a:xfrm>
            <a:off x="658375" y="1389900"/>
            <a:ext cx="3423600" cy="5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7"/>
          <p:cNvSpPr txBox="1">
            <a:spLocks noGrp="1"/>
          </p:cNvSpPr>
          <p:nvPr>
            <p:ph type="subTitle" idx="1"/>
          </p:nvPr>
        </p:nvSpPr>
        <p:spPr>
          <a:xfrm>
            <a:off x="658425" y="2574950"/>
            <a:ext cx="3423600" cy="17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/>
        </p:nvSpPr>
        <p:spPr>
          <a:xfrm>
            <a:off x="668450" y="425355"/>
            <a:ext cx="74688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Design of 3 Bit Gray To Binary Converter</a:t>
            </a:r>
            <a:endParaRPr sz="36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" name="Google Shape;133;p28"/>
          <p:cNvSpPr txBox="1"/>
          <p:nvPr/>
        </p:nvSpPr>
        <p:spPr>
          <a:xfrm>
            <a:off x="611125" y="1992050"/>
            <a:ext cx="27945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Group Number:- 13</a:t>
            </a:r>
            <a:endParaRPr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4" name="Google Shape;134;p28"/>
          <p:cNvSpPr txBox="1"/>
          <p:nvPr/>
        </p:nvSpPr>
        <p:spPr>
          <a:xfrm>
            <a:off x="4157000" y="1992050"/>
            <a:ext cx="4752000" cy="20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Group Members:- </a:t>
            </a:r>
            <a:endParaRPr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roxima Nova"/>
              <a:buChar char="●"/>
            </a:pPr>
            <a:r>
              <a:rPr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Nishant Gupta (2024393)</a:t>
            </a:r>
            <a:endParaRPr sz="2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roxima Nova"/>
              <a:buChar char="●"/>
            </a:pPr>
            <a:r>
              <a:rPr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Pranav Ramanathan (2024424)</a:t>
            </a:r>
            <a:endParaRPr sz="2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roxima Nova"/>
              <a:buChar char="●"/>
            </a:pPr>
            <a:r>
              <a:rPr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Sushruth S G (MT26215)</a:t>
            </a:r>
            <a:endParaRPr sz="2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roxima Nova"/>
              <a:buChar char="●"/>
            </a:pPr>
            <a:r>
              <a:rPr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Hrithik R (MT26165)</a:t>
            </a:r>
            <a:br>
              <a:rPr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22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668450" y="2571750"/>
            <a:ext cx="3074400" cy="13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Guided By :- </a:t>
            </a:r>
            <a:endParaRPr sz="2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Dr. Anuj Grover</a:t>
            </a:r>
            <a:endParaRPr sz="2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Sameer Tiwari</a:t>
            </a:r>
            <a:endParaRPr sz="2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Vishal Vishwakarma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Schematic + Sizing</a:t>
            </a:r>
            <a:endParaRPr sz="3000"/>
          </a:p>
        </p:txBody>
      </p:sp>
      <p:pic>
        <p:nvPicPr>
          <p:cNvPr id="141" name="Google Shape;14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6525"/>
            <a:ext cx="9144000" cy="390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Stimuli For Verification &amp; Verification Plan</a:t>
            </a:r>
            <a:endParaRPr sz="3000"/>
          </a:p>
        </p:txBody>
      </p:sp>
      <p:pic>
        <p:nvPicPr>
          <p:cNvPr id="147" name="Google Shape;14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6525"/>
            <a:ext cx="9144000" cy="394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>
            <a:spLocks noGrp="1"/>
          </p:cNvSpPr>
          <p:nvPr>
            <p:ph type="title"/>
          </p:nvPr>
        </p:nvSpPr>
        <p:spPr>
          <a:xfrm>
            <a:off x="620629" y="266299"/>
            <a:ext cx="7084200" cy="619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dirty="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Stimuli For Verification &amp; Verification Plan</a:t>
            </a:r>
            <a:endParaRPr sz="3000" dirty="0"/>
          </a:p>
        </p:txBody>
      </p:sp>
      <p:graphicFrame>
        <p:nvGraphicFramePr>
          <p:cNvPr id="153" name="Google Shape;153;p31"/>
          <p:cNvGraphicFramePr/>
          <p:nvPr>
            <p:extLst>
              <p:ext uri="{D42A27DB-BD31-4B8C-83A1-F6EECF244321}">
                <p14:modId xmlns:p14="http://schemas.microsoft.com/office/powerpoint/2010/main" val="2209525710"/>
              </p:ext>
            </p:extLst>
          </p:nvPr>
        </p:nvGraphicFramePr>
        <p:xfrm>
          <a:off x="476251" y="1190625"/>
          <a:ext cx="2541957" cy="3571875"/>
        </p:xfrm>
        <a:graphic>
          <a:graphicData uri="http://schemas.openxmlformats.org/drawingml/2006/table">
            <a:tbl>
              <a:tblPr>
                <a:noFill/>
                <a:tableStyleId>{5D50B04C-EC36-4FFD-9D90-1F05F1B5E898}</a:tableStyleId>
              </a:tblPr>
              <a:tblGrid>
                <a:gridCol w="423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3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3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G2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B2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150" marR="57150" marT="57150" marB="571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200" b="0" i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7625" marR="47625" marT="47625" marB="476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54" name="Google Shape;154;p31"/>
          <p:cNvGraphicFramePr/>
          <p:nvPr>
            <p:extLst>
              <p:ext uri="{D42A27DB-BD31-4B8C-83A1-F6EECF244321}">
                <p14:modId xmlns:p14="http://schemas.microsoft.com/office/powerpoint/2010/main" val="3608736092"/>
              </p:ext>
            </p:extLst>
          </p:nvPr>
        </p:nvGraphicFramePr>
        <p:xfrm>
          <a:off x="3158507" y="934226"/>
          <a:ext cx="5806740" cy="4107331"/>
        </p:xfrm>
        <a:graphic>
          <a:graphicData uri="http://schemas.openxmlformats.org/drawingml/2006/table">
            <a:tbl>
              <a:tblPr>
                <a:noFill/>
                <a:tableStyleId>{67F6F288-1EAE-409C-A182-6EF3CD6EB3C3}</a:tableStyleId>
              </a:tblPr>
              <a:tblGrid>
                <a:gridCol w="1161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359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Corner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RISE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3.6687E-10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4.9978E-10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4.7821E-10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1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FALL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3.8011E-10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4.8771E-10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5.2637E-10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1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TPLH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2.0061E-10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2.4898E-10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2.4400E-10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1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TPHL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2.0295E-10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2.6270E-10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2.3184E-10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1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2.0178E-10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2.5629E-10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2.3792E-10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1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RISE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2.6600E-10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3.5481E-10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3.2276E-10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1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FALL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2.3605E-10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3.0197E-10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3.5089E-10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1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TPLH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1.3637E-10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1.4521E-10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1.6474E-10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1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TPHL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1.3175E-10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1.7735E-10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1.3548E-10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10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1.3406E-10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1.6128E-10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1.5011E-10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Stimuli For Verification &amp; Verification Plan</a:t>
            </a:r>
            <a:endParaRPr sz="3000"/>
          </a:p>
        </p:txBody>
      </p:sp>
      <p:pic>
        <p:nvPicPr>
          <p:cNvPr id="160" name="Google Shape;16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945" y="1190688"/>
            <a:ext cx="4913400" cy="367849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2"/>
          <p:cNvSpPr txBox="1"/>
          <p:nvPr/>
        </p:nvSpPr>
        <p:spPr>
          <a:xfrm>
            <a:off x="64149" y="835104"/>
            <a:ext cx="5793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2"/>
                </a:solidFill>
              </a:rPr>
              <a:t>TT</a:t>
            </a:r>
            <a:endParaRPr sz="1800" b="1" dirty="0">
              <a:solidFill>
                <a:schemeClr val="dk2"/>
              </a:solidFill>
            </a:endParaRPr>
          </a:p>
        </p:txBody>
      </p:sp>
      <p:sp>
        <p:nvSpPr>
          <p:cNvPr id="162" name="Google Shape;162;p32"/>
          <p:cNvSpPr txBox="1"/>
          <p:nvPr/>
        </p:nvSpPr>
        <p:spPr>
          <a:xfrm>
            <a:off x="5144950" y="983388"/>
            <a:ext cx="25731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Power @ 100 MHz TT</a:t>
            </a:r>
            <a:endParaRPr sz="1800" b="1">
              <a:solidFill>
                <a:schemeClr val="dk2"/>
              </a:solidFill>
            </a:endParaRPr>
          </a:p>
        </p:txBody>
      </p:sp>
      <p:graphicFrame>
        <p:nvGraphicFramePr>
          <p:cNvPr id="163" name="Google Shape;163;p32"/>
          <p:cNvGraphicFramePr/>
          <p:nvPr>
            <p:extLst>
              <p:ext uri="{D42A27DB-BD31-4B8C-83A1-F6EECF244321}">
                <p14:modId xmlns:p14="http://schemas.microsoft.com/office/powerpoint/2010/main" val="2993575230"/>
              </p:ext>
            </p:extLst>
          </p:nvPr>
        </p:nvGraphicFramePr>
        <p:xfrm>
          <a:off x="64149" y="1190688"/>
          <a:ext cx="3989900" cy="210294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{5D50B04C-EC36-4FFD-9D90-1F05F1B5E898}</a:tableStyleId>
              </a:tblPr>
              <a:tblGrid>
                <a:gridCol w="99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7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sz="1100" b="1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</a:t>
                      </a:r>
                      <a:endParaRPr sz="1100" b="1" dirty="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endParaRPr sz="1100" b="1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</a:t>
                      </a:r>
                      <a:endParaRPr sz="1100" b="1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RISE</a:t>
                      </a:r>
                      <a:endParaRPr sz="1100" b="1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3.8506E-10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4.1958E-10</a:t>
                      </a:r>
                      <a:endParaRPr sz="1100" dirty="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3.1630E-10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FALL</a:t>
                      </a:r>
                      <a:endParaRPr sz="1100" b="1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4.2690E-10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3.8666E-10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3.1692E-10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TPLH</a:t>
                      </a:r>
                      <a:endParaRPr sz="1100" b="1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2.0325E-10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2.1547E-10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1.6533E-10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TPHL</a:t>
                      </a:r>
                      <a:endParaRPr sz="1100" b="1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1.7684E-10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1.9089E-10</a:t>
                      </a:r>
                      <a:endParaRPr sz="1100" dirty="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1.6504E-10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</a:t>
                      </a:r>
                      <a:endParaRPr sz="1100" b="1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1.9004E-10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2.0318E-10</a:t>
                      </a:r>
                      <a:endParaRPr sz="110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highlight>
                            <a:srgbClr val="FFFFFF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1.6519E-10</a:t>
                      </a:r>
                      <a:endParaRPr sz="1100" dirty="0">
                        <a:highlight>
                          <a:srgbClr val="FFFFFF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5" marR="68575" marT="91425" marB="91425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4" name="Google Shape;164;p32"/>
          <p:cNvSpPr txBox="1"/>
          <p:nvPr/>
        </p:nvSpPr>
        <p:spPr>
          <a:xfrm>
            <a:off x="0" y="3352400"/>
            <a:ext cx="14211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2"/>
                </a:solidFill>
              </a:rPr>
              <a:t>Power</a:t>
            </a:r>
            <a:endParaRPr sz="1800" b="1">
              <a:solidFill>
                <a:schemeClr val="dk2"/>
              </a:solidFill>
            </a:endParaRPr>
          </a:p>
        </p:txBody>
      </p:sp>
      <p:graphicFrame>
        <p:nvGraphicFramePr>
          <p:cNvPr id="165" name="Google Shape;165;p32"/>
          <p:cNvGraphicFramePr/>
          <p:nvPr>
            <p:extLst>
              <p:ext uri="{D42A27DB-BD31-4B8C-83A1-F6EECF244321}">
                <p14:modId xmlns:p14="http://schemas.microsoft.com/office/powerpoint/2010/main" val="2092421889"/>
              </p:ext>
            </p:extLst>
          </p:nvPr>
        </p:nvGraphicFramePr>
        <p:xfrm>
          <a:off x="64149" y="3710185"/>
          <a:ext cx="3989900" cy="1223155"/>
        </p:xfrm>
        <a:graphic>
          <a:graphicData uri="http://schemas.openxmlformats.org/drawingml/2006/table">
            <a:tbl>
              <a:tblPr>
                <a:noFill/>
                <a:tableStyleId>{67F6F288-1EAE-409C-A182-6EF3CD6EB3C3}</a:tableStyleId>
              </a:tblPr>
              <a:tblGrid>
                <a:gridCol w="199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B0</a:t>
                      </a:r>
                      <a:endParaRPr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8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P_STATIC_AVG 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7.0115E-07 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34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P_DYNAMIC </a:t>
                      </a:r>
                      <a:endParaRPr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3.2697E-05 </a:t>
                      </a:r>
                      <a:endParaRPr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Stick Diagram</a:t>
            </a:r>
            <a:endParaRPr sz="3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273CD6-E831-81C0-DC3F-51713AA1F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44" y="948775"/>
            <a:ext cx="8798112" cy="4040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>
            <a:spLocks noGrp="1"/>
          </p:cNvSpPr>
          <p:nvPr>
            <p:ph type="title"/>
          </p:nvPr>
        </p:nvSpPr>
        <p:spPr>
          <a:xfrm>
            <a:off x="633845" y="274320"/>
            <a:ext cx="7084200" cy="619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3EADA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 + Work Distribution</a:t>
            </a:r>
            <a:endParaRPr sz="3000">
              <a:solidFill>
                <a:srgbClr val="3EADA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34"/>
          <p:cNvSpPr txBox="1"/>
          <p:nvPr/>
        </p:nvSpPr>
        <p:spPr>
          <a:xfrm>
            <a:off x="932400" y="1096725"/>
            <a:ext cx="72792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</a:rPr>
              <a:t>Completed Work:</a:t>
            </a:r>
            <a:endParaRPr sz="2400" b="1">
              <a:solidFill>
                <a:schemeClr val="dk2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Schematic &amp; Sizing :- Nishant Gupta</a:t>
            </a:r>
            <a:endParaRPr sz="2100">
              <a:solidFill>
                <a:schemeClr val="dk2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Verification &amp; Pre layout :- Sushruth S G &amp; Hrithik R</a:t>
            </a:r>
            <a:endParaRPr sz="2100">
              <a:solidFill>
                <a:schemeClr val="dk2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Stick Diagram :- Pranav Ramanathan</a:t>
            </a:r>
            <a:endParaRPr sz="2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78" name="Google Shape;178;p34"/>
          <p:cNvSpPr txBox="1"/>
          <p:nvPr/>
        </p:nvSpPr>
        <p:spPr>
          <a:xfrm>
            <a:off x="932400" y="2763000"/>
            <a:ext cx="69450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</a:rPr>
              <a:t>Future Work:</a:t>
            </a:r>
            <a:endParaRPr sz="2400" b="1">
              <a:solidFill>
                <a:schemeClr val="dk2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Layout and PEX</a:t>
            </a:r>
            <a:endParaRPr sz="2100">
              <a:solidFill>
                <a:schemeClr val="dk2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Pre Layout vs Post Layout  Analysis</a:t>
            </a:r>
            <a:endParaRPr sz="2100">
              <a:solidFill>
                <a:schemeClr val="dk2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</a:pPr>
            <a:r>
              <a:rPr lang="en" sz="2100">
                <a:solidFill>
                  <a:schemeClr val="dk2"/>
                </a:solidFill>
              </a:rPr>
              <a:t>Power Analysis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IIT-Delhi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Office PowerPoint</Application>
  <PresentationFormat>On-screen Show (16:9)</PresentationFormat>
  <Paragraphs>168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Proxima Nova</vt:lpstr>
      <vt:lpstr>Quattrocento Sans</vt:lpstr>
      <vt:lpstr>Times New Roman</vt:lpstr>
      <vt:lpstr>Calibri</vt:lpstr>
      <vt:lpstr>Arial</vt:lpstr>
      <vt:lpstr>Droid Sans</vt:lpstr>
      <vt:lpstr>Simple Light</vt:lpstr>
      <vt:lpstr>IIIT-Delhi</vt:lpstr>
      <vt:lpstr>PowerPoint Presentation</vt:lpstr>
      <vt:lpstr>Schematic + Sizing</vt:lpstr>
      <vt:lpstr>Stimuli For Verification &amp; Verification Plan</vt:lpstr>
      <vt:lpstr>Stimuli For Verification &amp; Verification Plan</vt:lpstr>
      <vt:lpstr>Stimuli For Verification &amp; Verification Plan</vt:lpstr>
      <vt:lpstr>Stick Diagram</vt:lpstr>
      <vt:lpstr>Future Work + Work Distribution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Sushruth S. G</cp:lastModifiedBy>
  <cp:revision>1</cp:revision>
  <dcterms:modified xsi:type="dcterms:W3CDTF">2026-10-07T05:19:18Z</dcterms:modified>
</cp:coreProperties>
</file>